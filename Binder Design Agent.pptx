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Narration: what we built is the integration — four published models (RFdiffusion, ProteinMPNN, ESMFold, AlphaFold2-Multimer) deployed on Modal serverless GPUs behind one MCP server, driven end to end from Claude Code. The science inside the models is theirs; the toolchain and debugging are 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is cheap; lab work is not. Everything hinges on what you can rule out computationally before committing to making something.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 that the four models are existing published work. Our contribution is the integration, the serverless GPU deployment and the debugging — not the science inside the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model step is a tool call into our MCP server deployed on Modal — a GPU container spins up per call and shuts down after. Step 4 is the one thing we did ourselves. Steps 1 and 2 make a candidate. Step 5 predicts the complex with a different model, so the pipeline is not grading its own homework. It predicts confidence in a structure, not binding affinity — worth saying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what the metrics are: pLDDT and pTM describe the binder on its own, ipTM and PAE describe confidence in a predicted complex. None of them is a measurement of binding. The MPNN score is a sequence-model score, not a probability of success.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 the vision, keep the biology modest. We built the tools and feedback an agent would need; humans interpreted every result here. One thing no agent should do is rerun a deterministic prediction unchanged — varying seeds and models is the real robustness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Candidate #3 was a fresh generation call with a wider hotspot set, so more than one variable differs; we have not checked the generation records to confirm what changed. Its small ipTM difference cannot be attributed to any single factor.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disciplined here. PAE is positional uncertainty, ipTM is complex-prediction confidence, neither measures affinity. The glutamate trend is the first thing a reviewer will spot, so raise it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question, not the caveats. Then: we demonstrated a working, human-directed protein design workflow using Claude-accessible tools. High monomer confidence did not translate into confident complex predictions. PAE-guided refinement improved AF2-Multimer scores in one comparison, motivating further testing. Binding, affinity improvement, and any advantage over unguided refinement remain unestablished.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812765"/>
            <a:ext cx="10883436" cy="274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PROTEIN BINDER DESIGN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765" y="2065629"/>
            <a:ext cx="10883436" cy="1412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460"/>
              </a:lnSpc>
              <a:buNone/>
            </a:pPr>
            <a:r>
              <a:rPr lang="en-US" sz="5200" dirty="0">
                <a:solidFill>
                  <a:srgbClr val="F6F5F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Toward an agent that drives protein-design experiments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765" y="3681059"/>
            <a:ext cx="8502647" cy="345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toolchain; human-directed scientific decisions.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765" y="5005024"/>
            <a:ext cx="2712486" cy="193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spc="100" kern="0" dirty="0">
                <a:solidFill>
                  <a:srgbClr val="7D8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WITH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15940" y="5277429"/>
            <a:ext cx="1050919" cy="561413"/>
          </a:xfrm>
          <a:prstGeom prst="roundRect">
            <a:avLst>
              <a:gd name="adj" fmla="val 13007"/>
            </a:avLst>
          </a:prstGeom>
          <a:solidFill>
            <a:srgbClr val="22262E"/>
          </a:solidFill>
          <a:ln w="6350">
            <a:solidFill>
              <a:srgbClr val="33394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1719" y="5407036"/>
            <a:ext cx="690161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7FEE6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Modal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000194" y="5277429"/>
            <a:ext cx="1442878" cy="561413"/>
          </a:xfrm>
          <a:prstGeom prst="roundRect">
            <a:avLst>
              <a:gd name="adj" fmla="val 13007"/>
            </a:avLst>
          </a:prstGeom>
          <a:solidFill>
            <a:srgbClr val="22262E"/>
          </a:solidFill>
          <a:ln w="6350">
            <a:solidFill>
              <a:srgbClr val="3339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5973" y="5407036"/>
            <a:ext cx="1082120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D9775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Anthropic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801840" y="5356903"/>
            <a:ext cx="1854861" cy="193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spc="100" kern="0" dirty="0">
                <a:solidFill>
                  <a:srgbClr val="7D8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801840" y="5575322"/>
            <a:ext cx="1854861" cy="292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F5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protein-design-mcp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58268" y="5356903"/>
            <a:ext cx="1714009" cy="1930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100" b="1" spc="100" kern="0" dirty="0">
                <a:solidFill>
                  <a:srgbClr val="7D85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58268" y="5575322"/>
            <a:ext cx="1714009" cy="292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F5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PD-L1 (PDB 4ZQK)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1494832"/>
            <a:ext cx="10883436" cy="528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765" y="2099322"/>
            <a:ext cx="9156664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a small protein that sticks to one specific patch of a target protein.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15940" y="2760290"/>
            <a:ext cx="5187973" cy="1309462"/>
          </a:xfrm>
          <a:prstGeom prst="roundRect">
            <a:avLst>
              <a:gd name="adj" fmla="val 7516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125" y="2991475"/>
            <a:ext cx="4867371" cy="269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7A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7125" y="3324199"/>
            <a:ext cx="4867371" cy="539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Tumours use </a:t>
            </a:r>
            <a:r>
              <a:rPr lang="en-US" sz="1350" b="1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PD-L1</a:t>
            </a:r>
            <a:r>
              <a:rPr lang="en-US" sz="13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suppress an immune response. Blocking it is an established cancer therapy.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88059" y="2760290"/>
            <a:ext cx="5187973" cy="1309462"/>
          </a:xfrm>
          <a:prstGeom prst="roundRect">
            <a:avLst>
              <a:gd name="adj" fmla="val 7516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9245" y="2991475"/>
            <a:ext cx="4867371" cy="269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7A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it is hard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19245" y="3324199"/>
            <a:ext cx="4867371" cy="5397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80-residue binder has 20⁸⁰ possible sequences. Lab testing is slow and expensive.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2765" y="4428520"/>
            <a:ext cx="10566443" cy="731430"/>
          </a:xfrm>
          <a:prstGeom prst="roundRect">
            <a:avLst>
              <a:gd name="adj" fmla="val 13891"/>
            </a:avLst>
          </a:prstGeom>
          <a:solidFill>
            <a:srgbClr val="16191F"/>
          </a:solidFill>
          <a:ln/>
        </p:spPr>
      </p:sp>
      <p:sp>
        <p:nvSpPr>
          <p:cNvPr id="11" name="Text 9"/>
          <p:cNvSpPr/>
          <p:nvPr/>
        </p:nvSpPr>
        <p:spPr>
          <a:xfrm>
            <a:off x="1092140" y="4657084"/>
            <a:ext cx="10307923" cy="2997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Finding experimentally successful candidates requires effective screening.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812766"/>
            <a:ext cx="10883436" cy="472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this is done today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765" y="1335965"/>
            <a:ext cx="10883436" cy="274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approaches, three bottlenecks.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40" y="1791195"/>
            <a:ext cx="10560093" cy="565534"/>
          </a:xfrm>
          <a:prstGeom prst="roundRect">
            <a:avLst>
              <a:gd name="adj" fmla="val 15158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719" y="1963462"/>
            <a:ext cx="2616163" cy="246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450" b="1" dirty="0">
                <a:solidFill>
                  <a:srgbClr val="1F7A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Experimental screening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764840" y="1958887"/>
            <a:ext cx="7627575" cy="255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huge physical libraries and select what binds. Works; slow and expensive per target.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15940" y="2464657"/>
            <a:ext cx="10560093" cy="565534"/>
          </a:xfrm>
          <a:prstGeom prst="roundRect">
            <a:avLst>
              <a:gd name="adj" fmla="val 15158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1719" y="2636924"/>
            <a:ext cx="2616163" cy="246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450" b="1" dirty="0">
                <a:solidFill>
                  <a:srgbClr val="1F7A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 structural design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764840" y="2632349"/>
            <a:ext cx="7627575" cy="255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specialist reasons from the structure to a candidate. High skill, low throughput.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5940" y="3138119"/>
            <a:ext cx="10560093" cy="795682"/>
          </a:xfrm>
          <a:prstGeom prst="roundRect">
            <a:avLst>
              <a:gd name="adj" fmla="val 10774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1719" y="3425461"/>
            <a:ext cx="2616163" cy="246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450" b="1" dirty="0">
                <a:solidFill>
                  <a:srgbClr val="1F7A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Deep-learning design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64840" y="3305812"/>
            <a:ext cx="7627575" cy="4856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13"/>
              </a:lnSpc>
              <a:buNone/>
            </a:pPr>
            <a:r>
              <a:rPr lang="en-US" sz="12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and score candidates in silico. Success varies by target and method; experimental validation remains necessary.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2765" y="4140133"/>
            <a:ext cx="10566443" cy="927658"/>
          </a:xfrm>
          <a:prstGeom prst="roundRect">
            <a:avLst>
              <a:gd name="adj" fmla="val 10952"/>
            </a:avLst>
          </a:prstGeom>
          <a:solidFill>
            <a:srgbClr val="16191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734" y="4330610"/>
            <a:ext cx="10360259" cy="269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E0A35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models are public. Running them together is the work.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66734" y="4637928"/>
            <a:ext cx="10360259" cy="2647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deployed all four on </a:t>
            </a:r>
            <a:r>
              <a:rPr lang="en-US" sz="1300" b="1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Modal serverless GPUs</a:t>
            </a:r>
            <a:r>
              <a:rPr lang="en-US" sz="130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behind one MCP server, callable as tools from Claude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812766"/>
            <a:ext cx="10883436" cy="3391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2241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What we built</a:t>
            </a:r>
            <a:endParaRPr lang="en-US" sz="2241" dirty="0"/>
          </a:p>
        </p:txBody>
      </p:sp>
      <p:sp>
        <p:nvSpPr>
          <p:cNvPr id="3" name="Shape 1"/>
          <p:cNvSpPr/>
          <p:nvPr/>
        </p:nvSpPr>
        <p:spPr>
          <a:xfrm>
            <a:off x="812765" y="1266223"/>
            <a:ext cx="10566443" cy="637867"/>
          </a:xfrm>
          <a:prstGeom prst="roundRect">
            <a:avLst>
              <a:gd name="adj" fmla="val 11946"/>
            </a:avLst>
          </a:prstGeom>
          <a:solidFill>
            <a:srgbClr val="E8EFE9"/>
          </a:solidFill>
          <a:ln/>
        </p:spPr>
      </p:sp>
      <p:sp>
        <p:nvSpPr>
          <p:cNvPr id="4" name="Shape 2"/>
          <p:cNvSpPr/>
          <p:nvPr/>
        </p:nvSpPr>
        <p:spPr>
          <a:xfrm>
            <a:off x="838165" y="1266223"/>
            <a:ext cx="0" cy="637867"/>
          </a:xfrm>
          <a:prstGeom prst="line">
            <a:avLst/>
          </a:prstGeom>
          <a:noFill/>
          <a:ln w="50800">
            <a:solidFill>
              <a:srgbClr val="1F7A6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2514" y="1470830"/>
            <a:ext cx="939783" cy="254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F7A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119294" y="1345792"/>
            <a:ext cx="9341520" cy="504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4ZQK.pdb</a:t>
            </a:r>
            <a:r>
              <a:rPr lang="en-US" sz="1300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PD-L1, chain A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Hotspots</a:t>
            </a:r>
            <a:r>
              <a:rPr lang="en-US" sz="1300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Tyr56, Met115, Tyr123, Arg125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2765" y="2043756"/>
            <a:ext cx="1142997" cy="3020730"/>
          </a:xfrm>
          <a:prstGeom prst="roundRect">
            <a:avLst>
              <a:gd name="adj" fmla="val 7778"/>
            </a:avLst>
          </a:prstGeom>
          <a:solidFill>
            <a:srgbClr val="16191F"/>
          </a:solidFill>
          <a:ln/>
        </p:spPr>
      </p:sp>
      <p:sp>
        <p:nvSpPr>
          <p:cNvPr id="8" name="Text 6"/>
          <p:cNvSpPr/>
          <p:nvPr/>
        </p:nvSpPr>
        <p:spPr>
          <a:xfrm>
            <a:off x="952430" y="3135624"/>
            <a:ext cx="914468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F6F5F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2430" y="3412463"/>
            <a:ext cx="914468" cy="5855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Code, one MCP call per step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60498" y="2043756"/>
            <a:ext cx="2692429" cy="220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spc="50" kern="0" dirty="0">
                <a:solidFill>
                  <a:srgbClr val="1F7A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 1, 2, 3, 5 — ON MODAL GPUs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44511" y="2043756"/>
            <a:ext cx="1220426" cy="220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spc="50" kern="0" dirty="0">
                <a:solidFill>
                  <a:srgbClr val="8A6A2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 — OURS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098602" y="2241891"/>
            <a:ext cx="9277431" cy="472877"/>
          </a:xfrm>
          <a:prstGeom prst="roundRect">
            <a:avLst>
              <a:gd name="adj" fmla="val 15443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66295" y="2260544"/>
            <a:ext cx="2747004" cy="231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 Generate a backbone shape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266295" y="2491643"/>
            <a:ext cx="2747004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7A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RFdiffusion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111086" y="2371634"/>
            <a:ext cx="6280172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3D shapes that sit against the hotspots. No sequence yet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098602" y="2797290"/>
            <a:ext cx="9277431" cy="472877"/>
          </a:xfrm>
          <a:prstGeom prst="roundRect">
            <a:avLst>
              <a:gd name="adj" fmla="val 15443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66295" y="2815943"/>
            <a:ext cx="2747004" cy="231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 Design a sequence for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66295" y="3047042"/>
            <a:ext cx="2747004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7A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ProteinMPNN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111086" y="2927032"/>
            <a:ext cx="6280172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amino acids predicted to fold into that shape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098602" y="3352688"/>
            <a:ext cx="9277431" cy="472877"/>
          </a:xfrm>
          <a:prstGeom prst="roundRect">
            <a:avLst>
              <a:gd name="adj" fmla="val 15443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66295" y="3371343"/>
            <a:ext cx="2747004" cy="231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 Check the sequence folds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266295" y="3602442"/>
            <a:ext cx="2747004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7A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ESMFold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111086" y="3482431"/>
            <a:ext cx="6280172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Refolds it alone, target removed → pLDDT, pTM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098602" y="3908089"/>
            <a:ext cx="9277431" cy="472877"/>
          </a:xfrm>
          <a:prstGeom prst="roundRect">
            <a:avLst>
              <a:gd name="adj" fmla="val 15443"/>
            </a:avLst>
          </a:prstGeom>
          <a:solidFill>
            <a:srgbClr val="F0ECE2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66295" y="3926742"/>
            <a:ext cx="2747004" cy="2311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 Drop the weak candidates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2266295" y="4157841"/>
            <a:ext cx="2747004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8A6A2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111086" y="4037831"/>
            <a:ext cx="6280172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candidates in, 1 forward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098602" y="4463487"/>
            <a:ext cx="9277431" cy="597823"/>
          </a:xfrm>
          <a:prstGeom prst="roundRect">
            <a:avLst>
              <a:gd name="adj" fmla="val 12215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66295" y="4441744"/>
            <a:ext cx="2747004" cy="436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 Predict complex structure and confidence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2266295" y="4878583"/>
            <a:ext cx="2747004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dirty="0">
                <a:solidFill>
                  <a:srgbClr val="1F7A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AlphaFold2-Multimer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111086" y="4655725"/>
            <a:ext cx="6280172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Binder and PD-L1 folded together, different model → ipTM, PAE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12765" y="5204151"/>
            <a:ext cx="10566443" cy="637867"/>
          </a:xfrm>
          <a:prstGeom prst="roundRect">
            <a:avLst>
              <a:gd name="adj" fmla="val 11946"/>
            </a:avLst>
          </a:prstGeom>
          <a:solidFill>
            <a:srgbClr val="16191F"/>
          </a:solidFill>
          <a:ln/>
        </p:spPr>
      </p:sp>
      <p:sp>
        <p:nvSpPr>
          <p:cNvPr id="33" name="Shape 31"/>
          <p:cNvSpPr/>
          <p:nvPr/>
        </p:nvSpPr>
        <p:spPr>
          <a:xfrm>
            <a:off x="838165" y="5204151"/>
            <a:ext cx="0" cy="637867"/>
          </a:xfrm>
          <a:prstGeom prst="line">
            <a:avLst/>
          </a:prstGeom>
          <a:noFill/>
          <a:ln w="50800">
            <a:solidFill>
              <a:srgbClr val="E0A3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52514" y="5408757"/>
            <a:ext cx="939783" cy="254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0A35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OUTPUT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2119294" y="5283719"/>
            <a:ext cx="9341520" cy="5041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F6F5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Result:</a:t>
            </a:r>
            <a:r>
              <a:rPr lang="en-US" sz="1300" dirty="0">
                <a:solidFill>
                  <a:srgbClr val="F6F5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binder sequence and its predicted complex with PD-L1</a:t>
            </a:r>
            <a:endParaRPr lang="en-US" sz="1300" dirty="0"/>
          </a:p>
          <a:p>
            <a:pPr algn="l" indent="0" marL="0">
              <a:lnSpc>
                <a:spcPts val="1885"/>
              </a:lnSpc>
              <a:buNone/>
            </a:pPr>
            <a:r>
              <a:rPr lang="en-US" sz="1300" b="1" dirty="0">
                <a:solidFill>
                  <a:srgbClr val="F6F5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Verdict:</a:t>
            </a:r>
            <a:r>
              <a:rPr lang="en-US" sz="1300" dirty="0">
                <a:solidFill>
                  <a:srgbClr val="F6F5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ipTM 0.39, PAE 11.6 Å — does not meet our screening criteria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812766"/>
            <a:ext cx="10883436" cy="4344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3"/>
              </a:lnSpc>
              <a:buNone/>
            </a:pPr>
            <a:r>
              <a:rPr lang="en-US" sz="2930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example: PD-L1</a:t>
            </a:r>
            <a:endParaRPr lang="en-US" sz="2930" dirty="0"/>
          </a:p>
        </p:txBody>
      </p:sp>
      <p:sp>
        <p:nvSpPr>
          <p:cNvPr id="3" name="Text 1"/>
          <p:cNvSpPr/>
          <p:nvPr/>
        </p:nvSpPr>
        <p:spPr>
          <a:xfrm>
            <a:off x="812765" y="1298014"/>
            <a:ext cx="10883436" cy="48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32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ran the workflow against PD-L1 (PDB 4ZQK), a real cancer immunotherapy target. Best of 8 designs, then predicted as a complex.</a:t>
            </a:r>
            <a:endParaRPr lang="en-US" sz="1321" dirty="0"/>
          </a:p>
        </p:txBody>
      </p:sp>
      <p:sp>
        <p:nvSpPr>
          <p:cNvPr id="4" name="Shape 2"/>
          <p:cNvSpPr/>
          <p:nvPr/>
        </p:nvSpPr>
        <p:spPr>
          <a:xfrm>
            <a:off x="815940" y="1947208"/>
            <a:ext cx="5187973" cy="2816522"/>
          </a:xfrm>
          <a:prstGeom prst="roundRect">
            <a:avLst>
              <a:gd name="adj" fmla="val 3495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719" y="2152988"/>
            <a:ext cx="4919707" cy="2294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1F7A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Monomer confidence (steps 1–4)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021719" y="2458585"/>
            <a:ext cx="1130260" cy="505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93.5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228163" y="2655674"/>
            <a:ext cx="2493719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pLDDT — per-residue confidence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1719" y="2988624"/>
            <a:ext cx="1130260" cy="505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0.85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228163" y="3185713"/>
            <a:ext cx="1732667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pTM — fold confidence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1719" y="3518706"/>
            <a:ext cx="1130260" cy="505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0.95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2228163" y="3715795"/>
            <a:ext cx="3677070" cy="452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MPNN — sequence-model score, not a success probability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21719" y="4177088"/>
            <a:ext cx="4919707" cy="406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α-helix. Refolding the sequence reproduced the same scores.</a:t>
            </a:r>
            <a:endParaRPr lang="en-US" sz="1159" dirty="0"/>
          </a:p>
        </p:txBody>
      </p:sp>
      <p:sp>
        <p:nvSpPr>
          <p:cNvPr id="13" name="Shape 11"/>
          <p:cNvSpPr/>
          <p:nvPr/>
        </p:nvSpPr>
        <p:spPr>
          <a:xfrm>
            <a:off x="6188059" y="1947208"/>
            <a:ext cx="5187973" cy="2816522"/>
          </a:xfrm>
          <a:prstGeom prst="roundRect">
            <a:avLst>
              <a:gd name="adj" fmla="val 3495"/>
            </a:avLst>
          </a:prstGeom>
          <a:solidFill>
            <a:srgbClr val="2A1D18"/>
          </a:solidFill>
          <a:ln w="6350">
            <a:solidFill>
              <a:srgbClr val="4A33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3838" y="2152988"/>
            <a:ext cx="4919707" cy="2434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434" b="1" dirty="0">
                <a:solidFill>
                  <a:srgbClr val="E0A35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Complex confidence (step 5)</a:t>
            </a:r>
            <a:endParaRPr lang="en-US" sz="1434" dirty="0"/>
          </a:p>
        </p:txBody>
      </p:sp>
      <p:sp>
        <p:nvSpPr>
          <p:cNvPr id="15" name="Text 13"/>
          <p:cNvSpPr/>
          <p:nvPr/>
        </p:nvSpPr>
        <p:spPr>
          <a:xfrm>
            <a:off x="6393838" y="2472578"/>
            <a:ext cx="1130260" cy="505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E583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0.39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7600283" y="2669667"/>
            <a:ext cx="2512283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ipTM — our screening bar is &gt; 0.8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93838" y="3032007"/>
            <a:ext cx="1130260" cy="505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E583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11.6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7600283" y="3229096"/>
            <a:ext cx="2561401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interface PAE (Å) — our bar is &lt; 10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93838" y="3591483"/>
            <a:ext cx="1130260" cy="505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>
                <a:solidFill>
                  <a:srgbClr val="F6F5F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88.0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7600283" y="3788572"/>
            <a:ext cx="1197737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 pLDDT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93838" y="4150956"/>
            <a:ext cx="4919707" cy="4323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151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not meet the thresholds we screen on. Neither metric measures binding affinity.</a:t>
            </a:r>
            <a:endParaRPr lang="en-US" sz="1151" dirty="0"/>
          </a:p>
        </p:txBody>
      </p:sp>
      <p:sp>
        <p:nvSpPr>
          <p:cNvPr id="22" name="Shape 20"/>
          <p:cNvSpPr/>
          <p:nvPr/>
        </p:nvSpPr>
        <p:spPr>
          <a:xfrm>
            <a:off x="812765" y="4957381"/>
            <a:ext cx="10566443" cy="884635"/>
          </a:xfrm>
          <a:prstGeom prst="roundRect">
            <a:avLst>
              <a:gd name="adj" fmla="val 11485"/>
            </a:avLst>
          </a:prstGeom>
          <a:solidFill>
            <a:srgbClr val="16191F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734" y="5147859"/>
            <a:ext cx="10360259" cy="247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70"/>
              </a:lnSpc>
              <a:buNone/>
            </a:pPr>
            <a:r>
              <a:rPr lang="en-US" sz="1475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High monomer confidence did not translate into high complex confidence.</a:t>
            </a:r>
            <a:endParaRPr lang="en-US" sz="1475" dirty="0"/>
          </a:p>
        </p:txBody>
      </p:sp>
      <p:sp>
        <p:nvSpPr>
          <p:cNvPr id="24" name="Text 22"/>
          <p:cNvSpPr/>
          <p:nvPr/>
        </p:nvSpPr>
        <p:spPr>
          <a:xfrm>
            <a:off x="1066734" y="5433482"/>
            <a:ext cx="10360259" cy="2434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20"/>
              </a:lnSpc>
              <a:buNone/>
            </a:pPr>
            <a:r>
              <a:rPr lang="en-US" sz="1186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Monomer confidence does not assess the binder–target interface. That is what step 5 is for.</a:t>
            </a:r>
            <a:endParaRPr lang="en-US" sz="118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3A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812766"/>
            <a:ext cx="10883436" cy="238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0A35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FUTURE WORK — HUMANS MADE EVERY DECISION IN THIS RUN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65" y="1102286"/>
            <a:ext cx="10883436" cy="458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10"/>
              </a:lnSpc>
              <a:buNone/>
            </a:pPr>
            <a:r>
              <a:rPr lang="en-US" sz="3100" dirty="0">
                <a:solidFill>
                  <a:srgbClr val="F6F5F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How the agent can help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12765" y="1611492"/>
            <a:ext cx="9156664" cy="274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FD4C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failed screen opens several possible next moves. Picking between them is judgment, not a threshold.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65" y="2063545"/>
            <a:ext cx="2536839" cy="1554384"/>
          </a:xfrm>
          <a:prstGeom prst="roundRect">
            <a:avLst>
              <a:gd name="adj" fmla="val 5719"/>
            </a:avLst>
          </a:prstGeom>
          <a:solidFill>
            <a:srgbClr val="2A4A44"/>
          </a:solidFill>
          <a:ln/>
        </p:spPr>
      </p:sp>
      <p:sp>
        <p:nvSpPr>
          <p:cNvPr id="6" name="Text 4"/>
          <p:cNvSpPr/>
          <p:nvPr/>
        </p:nvSpPr>
        <p:spPr>
          <a:xfrm>
            <a:off x="1003242" y="2254024"/>
            <a:ext cx="2220562" cy="482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Check another candidate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3242" y="2787411"/>
            <a:ext cx="2220562" cy="66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F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Cheapest move. Does the monomer score rank them at all?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89269" y="2063545"/>
            <a:ext cx="2536885" cy="1554384"/>
          </a:xfrm>
          <a:prstGeom prst="roundRect">
            <a:avLst>
              <a:gd name="adj" fmla="val 5719"/>
            </a:avLst>
          </a:prstGeom>
          <a:solidFill>
            <a:srgbClr val="2A4A44"/>
          </a:solidFill>
          <a:ln/>
        </p:spPr>
      </p:sp>
      <p:sp>
        <p:nvSpPr>
          <p:cNvPr id="9" name="Text 7"/>
          <p:cNvSpPr/>
          <p:nvPr/>
        </p:nvSpPr>
        <p:spPr>
          <a:xfrm>
            <a:off x="3679746" y="2254024"/>
            <a:ext cx="2220609" cy="254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Refine a near-miss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79746" y="2558805"/>
            <a:ext cx="2220609" cy="66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F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detailed output, keep what works, redesign the rest.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65819" y="2063545"/>
            <a:ext cx="2536839" cy="1554384"/>
          </a:xfrm>
          <a:prstGeom prst="roundRect">
            <a:avLst>
              <a:gd name="adj" fmla="val 5719"/>
            </a:avLst>
          </a:prstGeom>
          <a:solidFill>
            <a:srgbClr val="2A4A44"/>
          </a:solidFill>
          <a:ln/>
        </p:spPr>
      </p:sp>
      <p:sp>
        <p:nvSpPr>
          <p:cNvPr id="12" name="Text 10"/>
          <p:cNvSpPr/>
          <p:nvPr/>
        </p:nvSpPr>
        <p:spPr>
          <a:xfrm>
            <a:off x="6356296" y="2254024"/>
            <a:ext cx="2220562" cy="254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 over, differently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56296" y="2558805"/>
            <a:ext cx="2220562" cy="66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F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backbones from independent seeds, or different hotspots.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842323" y="2063545"/>
            <a:ext cx="2536885" cy="1554384"/>
          </a:xfrm>
          <a:prstGeom prst="roundRect">
            <a:avLst>
              <a:gd name="adj" fmla="val 5719"/>
            </a:avLst>
          </a:prstGeom>
          <a:solidFill>
            <a:srgbClr val="2A4A44"/>
          </a:solidFill>
          <a:ln/>
        </p:spPr>
      </p:sp>
      <p:sp>
        <p:nvSpPr>
          <p:cNvPr id="15" name="Text 13"/>
          <p:cNvSpPr/>
          <p:nvPr/>
        </p:nvSpPr>
        <p:spPr>
          <a:xfrm>
            <a:off x="9032800" y="2254024"/>
            <a:ext cx="2220609" cy="4826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Spend the budget elsewhere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032800" y="2787411"/>
            <a:ext cx="2220609" cy="66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6EF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 which candidates earn an expensive prediction, and when to stop.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2765" y="3821088"/>
            <a:ext cx="10566443" cy="935855"/>
          </a:xfrm>
          <a:prstGeom prst="roundRect">
            <a:avLst>
              <a:gd name="adj" fmla="val 10856"/>
            </a:avLst>
          </a:prstGeom>
          <a:solidFill>
            <a:srgbClr val="16191F"/>
          </a:solidFill>
          <a:ln/>
        </p:spPr>
      </p:sp>
      <p:sp>
        <p:nvSpPr>
          <p:cNvPr id="18" name="Text 16"/>
          <p:cNvSpPr/>
          <p:nvPr/>
        </p:nvSpPr>
        <p:spPr>
          <a:xfrm>
            <a:off x="1066734" y="4024244"/>
            <a:ext cx="10360259" cy="269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7FEE6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took the first two by hand. Next two slides.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66734" y="4331562"/>
            <a:ext cx="10360259" cy="247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open question: can an agent make these calls reliably, and beat a fixed workflow at equal compute?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812766"/>
            <a:ext cx="10883436" cy="472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Three candidates below our screening thresholds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12765" y="1335965"/>
            <a:ext cx="10883436" cy="274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kept going. Monomer confidence stayed high; complex confidence stayed below the bar.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3242" y="1775340"/>
            <a:ext cx="3401021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spc="50" kern="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CANDIDATE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457595" y="1775340"/>
            <a:ext cx="1831305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spc="50" kern="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pLDDT / pTM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387951" y="1775340"/>
            <a:ext cx="1320782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spc="50" kern="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ipTM &gt; 0.8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810324" y="1775340"/>
            <a:ext cx="1511259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spc="50" kern="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PAE &lt; 10 Å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423174" y="1775340"/>
            <a:ext cx="1818524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b="1" spc="50" kern="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15940" y="2046477"/>
            <a:ext cx="10560093" cy="561413"/>
          </a:xfrm>
          <a:prstGeom prst="roundRect">
            <a:avLst>
              <a:gd name="adj" fmla="val 13007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9039" y="2211589"/>
            <a:ext cx="3401021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 highest monomer confidence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463392" y="2211589"/>
            <a:ext cx="1831305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93.5 / 0.85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93748" y="2176084"/>
            <a:ext cx="1320782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0.39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816121" y="2176084"/>
            <a:ext cx="1511259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11.6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428970" y="2211589"/>
            <a:ext cx="1806583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553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5940" y="2677731"/>
            <a:ext cx="10560093" cy="561413"/>
          </a:xfrm>
          <a:prstGeom prst="roundRect">
            <a:avLst>
              <a:gd name="adj" fmla="val 13007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9039" y="2842844"/>
            <a:ext cx="3401021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 same batch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63392" y="2842844"/>
            <a:ext cx="1831305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93.1 / 0.85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93748" y="2807339"/>
            <a:ext cx="1320782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0.23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816121" y="2807339"/>
            <a:ext cx="1511259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16.5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428970" y="2842844"/>
            <a:ext cx="1806583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553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5940" y="3308989"/>
            <a:ext cx="10560093" cy="561413"/>
          </a:xfrm>
          <a:prstGeom prst="roundRect">
            <a:avLst>
              <a:gd name="adj" fmla="val 13007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9039" y="3474098"/>
            <a:ext cx="3401021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 fresh call, 7 hotspots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463392" y="3474098"/>
            <a:ext cx="1831305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 / 0.61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93748" y="3438593"/>
            <a:ext cx="1320782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8A6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0.43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816121" y="3438593"/>
            <a:ext cx="1511259" cy="327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14.7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28970" y="3474098"/>
            <a:ext cx="1806583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553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2765" y="4064053"/>
            <a:ext cx="10566443" cy="1275009"/>
          </a:xfrm>
          <a:prstGeom prst="roundRect">
            <a:avLst>
              <a:gd name="adj" fmla="val 6972"/>
            </a:avLst>
          </a:prstGeom>
          <a:solidFill>
            <a:srgbClr val="16191F"/>
          </a:solidFill>
          <a:ln/>
        </p:spPr>
      </p:sp>
      <p:sp>
        <p:nvSpPr>
          <p:cNvPr id="28" name="Text 26"/>
          <p:cNvSpPr/>
          <p:nvPr/>
        </p:nvSpPr>
        <p:spPr>
          <a:xfrm>
            <a:off x="1041328" y="4241850"/>
            <a:ext cx="5075504" cy="254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Ranking differed in these three cases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041328" y="4521225"/>
            <a:ext cx="5075504" cy="66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lowest complex confidence came from the second-highest monomer score. Three cases, so this shows the two did not agree here — not that monomer score never predicts.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22971" y="4241850"/>
            <a:ext cx="5075504" cy="2540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0A35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8 may share one backbone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222971" y="4521225"/>
            <a:ext cx="5075504" cy="66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8C6B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8 share a length, a start/end pattern and a motif near residue 52. Suggestive of sequence resampling on one backbone — we have not yet checked the generation records to confirm.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812766"/>
            <a:ext cx="10883436" cy="8367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07"/>
              </a:lnSpc>
              <a:buNone/>
            </a:pPr>
            <a:r>
              <a:rPr lang="en-US" sz="2916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PAE-guided refinement improved complex-confidence scores</a:t>
            </a:r>
            <a:endParaRPr lang="en-US" sz="2916" dirty="0"/>
          </a:p>
        </p:txBody>
      </p:sp>
      <p:sp>
        <p:nvSpPr>
          <p:cNvPr id="3" name="Text 1"/>
          <p:cNvSpPr/>
          <p:nvPr/>
        </p:nvSpPr>
        <p:spPr>
          <a:xfrm>
            <a:off x="812765" y="1700253"/>
            <a:ext cx="10883436" cy="4900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37"/>
              </a:lnSpc>
              <a:buNone/>
            </a:pPr>
            <a:r>
              <a:rPr lang="en-US" sz="1312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failing score is an average. The full residue-by-residue output showed which parts of the design the model was confident about — and that suggested a fix.</a:t>
            </a:r>
            <a:endParaRPr lang="en-US" sz="1312" dirty="0"/>
          </a:p>
        </p:txBody>
      </p:sp>
      <p:sp>
        <p:nvSpPr>
          <p:cNvPr id="4" name="Shape 2"/>
          <p:cNvSpPr/>
          <p:nvPr/>
        </p:nvSpPr>
        <p:spPr>
          <a:xfrm>
            <a:off x="815940" y="2333144"/>
            <a:ext cx="5200110" cy="3505698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9039" y="2526243"/>
            <a:ext cx="4958330" cy="246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450" b="1" dirty="0">
                <a:solidFill>
                  <a:srgbClr val="1F7A6C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Lower-PAE regions in candidate #3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009039" y="2836097"/>
            <a:ext cx="4958330" cy="6882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Taking each binder residue's minimum PAE across all 115 target residues, </a:t>
            </a:r>
            <a:r>
              <a:rPr lang="en-US" sz="1200" b="1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 of 80</a:t>
            </a:r>
            <a:r>
              <a:rPr lang="en-US" sz="120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fall below 10 Å. That is a PAE summary, not a count of physical contacts.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9039" y="3587859"/>
            <a:ext cx="4958330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Residues 29–39  →  </a:t>
            </a:r>
            <a:r>
              <a:rPr lang="en-US" sz="1150" b="1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Met115</a:t>
            </a: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 (min PAE 4.73)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09039" y="3830417"/>
            <a:ext cx="4958330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Residues 13–27  →  </a:t>
            </a:r>
            <a:r>
              <a:rPr lang="en-US" sz="1150" b="1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Tyr56</a:t>
            </a: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 (6–10)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09039" y="4072976"/>
            <a:ext cx="4958330" cy="229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Residues 49–63  →  </a:t>
            </a:r>
            <a:r>
              <a:rPr lang="en-US" sz="1150" b="1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Ile54</a:t>
            </a: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 (8.6–9.9)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09039" y="4366341"/>
            <a:ext cx="4958330" cy="4489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68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map to known PD-1 contact residues, which motivated preserving 29–39 and redesigning the rest.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84296" y="2329969"/>
            <a:ext cx="5194912" cy="3512048"/>
          </a:xfrm>
          <a:prstGeom prst="roundRect">
            <a:avLst>
              <a:gd name="adj" fmla="val 2893"/>
            </a:avLst>
          </a:prstGeom>
          <a:solidFill>
            <a:srgbClr val="1F3A35"/>
          </a:solidFill>
          <a:ln/>
        </p:spPr>
      </p:sp>
      <p:sp>
        <p:nvSpPr>
          <p:cNvPr id="12" name="Text 10"/>
          <p:cNvSpPr/>
          <p:nvPr/>
        </p:nvSpPr>
        <p:spPr>
          <a:xfrm>
            <a:off x="6374773" y="2520445"/>
            <a:ext cx="4958377" cy="2375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396" b="1" dirty="0">
                <a:solidFill>
                  <a:srgbClr val="5FBFA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Improved AF2-Multimer confidence</a:t>
            </a:r>
            <a:endParaRPr lang="en-US" sz="1396" dirty="0"/>
          </a:p>
        </p:txBody>
      </p:sp>
      <p:sp>
        <p:nvSpPr>
          <p:cNvPr id="13" name="Shape 11"/>
          <p:cNvSpPr/>
          <p:nvPr/>
        </p:nvSpPr>
        <p:spPr>
          <a:xfrm>
            <a:off x="6374773" y="2821468"/>
            <a:ext cx="2349849" cy="809550"/>
          </a:xfrm>
          <a:prstGeom prst="roundRect">
            <a:avLst>
              <a:gd name="adj" fmla="val 9413"/>
            </a:avLst>
          </a:prstGeom>
          <a:solidFill>
            <a:srgbClr val="2A4A44"/>
          </a:solidFill>
          <a:ln/>
        </p:spPr>
      </p:sp>
      <p:sp>
        <p:nvSpPr>
          <p:cNvPr id="14" name="Text 12"/>
          <p:cNvSpPr/>
          <p:nvPr/>
        </p:nvSpPr>
        <p:spPr>
          <a:xfrm>
            <a:off x="6501757" y="2948453"/>
            <a:ext cx="2158757" cy="209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3"/>
              </a:lnSpc>
              <a:buNone/>
            </a:pPr>
            <a:r>
              <a:rPr lang="en-US" sz="1052" dirty="0">
                <a:solidFill>
                  <a:srgbClr val="BFD4C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ipTM</a:t>
            </a:r>
            <a:endParaRPr lang="en-US" sz="1052" dirty="0"/>
          </a:p>
        </p:txBody>
      </p:sp>
      <p:sp>
        <p:nvSpPr>
          <p:cNvPr id="15" name="Text 13"/>
          <p:cNvSpPr/>
          <p:nvPr/>
        </p:nvSpPr>
        <p:spPr>
          <a:xfrm>
            <a:off x="6501757" y="3170179"/>
            <a:ext cx="2158757" cy="359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9"/>
              </a:lnSpc>
              <a:buNone/>
            </a:pPr>
            <a:r>
              <a:rPr lang="en-US" sz="1906" dirty="0">
                <a:solidFill>
                  <a:srgbClr val="F6F5F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0.43 → </a:t>
            </a:r>
            <a:r>
              <a:rPr lang="en-US" sz="1906" dirty="0">
                <a:solidFill>
                  <a:srgbClr val="7FEE6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0.55</a:t>
            </a:r>
            <a:endParaRPr lang="en-US" sz="1906" dirty="0"/>
          </a:p>
        </p:txBody>
      </p:sp>
      <p:sp>
        <p:nvSpPr>
          <p:cNvPr id="16" name="Shape 14"/>
          <p:cNvSpPr/>
          <p:nvPr/>
        </p:nvSpPr>
        <p:spPr>
          <a:xfrm>
            <a:off x="8838881" y="2821468"/>
            <a:ext cx="2349849" cy="809550"/>
          </a:xfrm>
          <a:prstGeom prst="roundRect">
            <a:avLst>
              <a:gd name="adj" fmla="val 9413"/>
            </a:avLst>
          </a:prstGeom>
          <a:solidFill>
            <a:srgbClr val="2A4A44"/>
          </a:solidFill>
          <a:ln/>
        </p:spPr>
      </p:sp>
      <p:sp>
        <p:nvSpPr>
          <p:cNvPr id="17" name="Text 15"/>
          <p:cNvSpPr/>
          <p:nvPr/>
        </p:nvSpPr>
        <p:spPr>
          <a:xfrm>
            <a:off x="8965866" y="2948453"/>
            <a:ext cx="2158757" cy="209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3"/>
              </a:lnSpc>
              <a:buNone/>
            </a:pPr>
            <a:r>
              <a:rPr lang="en-US" sz="1052" dirty="0">
                <a:solidFill>
                  <a:srgbClr val="BFD4C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interface PAE</a:t>
            </a:r>
            <a:endParaRPr lang="en-US" sz="1052" dirty="0"/>
          </a:p>
        </p:txBody>
      </p:sp>
      <p:sp>
        <p:nvSpPr>
          <p:cNvPr id="18" name="Text 16"/>
          <p:cNvSpPr/>
          <p:nvPr/>
        </p:nvSpPr>
        <p:spPr>
          <a:xfrm>
            <a:off x="8965866" y="3170179"/>
            <a:ext cx="2158757" cy="3592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69"/>
              </a:lnSpc>
              <a:buNone/>
            </a:pPr>
            <a:r>
              <a:rPr lang="en-US" sz="1906" dirty="0">
                <a:solidFill>
                  <a:srgbClr val="F6F5F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14.69 → </a:t>
            </a:r>
            <a:r>
              <a:rPr lang="en-US" sz="1906" dirty="0">
                <a:solidFill>
                  <a:srgbClr val="7FEE6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11.58</a:t>
            </a:r>
            <a:endParaRPr lang="en-US" sz="1906" dirty="0"/>
          </a:p>
        </p:txBody>
      </p:sp>
      <p:sp>
        <p:nvSpPr>
          <p:cNvPr id="19" name="Text 17"/>
          <p:cNvSpPr/>
          <p:nvPr/>
        </p:nvSpPr>
        <p:spPr>
          <a:xfrm>
            <a:off x="6374773" y="3719916"/>
            <a:ext cx="4958377" cy="8385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110" dirty="0">
                <a:solidFill>
                  <a:srgbClr val="BFD4C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mutations. The redesign and the re-prediction were both Modal GPU tool calls. One before/after comparison. Still below our 0.8 / 10 bar. No matched baseline, so we cannot say this beats unguided refinement.</a:t>
            </a:r>
            <a:endParaRPr lang="en-US" sz="1110" dirty="0"/>
          </a:p>
        </p:txBody>
      </p:sp>
      <p:sp>
        <p:nvSpPr>
          <p:cNvPr id="20" name="Shape 18"/>
          <p:cNvSpPr/>
          <p:nvPr/>
        </p:nvSpPr>
        <p:spPr>
          <a:xfrm>
            <a:off x="6374773" y="4621985"/>
            <a:ext cx="4813958" cy="1029554"/>
          </a:xfrm>
          <a:prstGeom prst="roundRect">
            <a:avLst>
              <a:gd name="adj" fmla="val 7401"/>
            </a:avLst>
          </a:prstGeom>
          <a:solidFill>
            <a:srgbClr val="3D2A22"/>
          </a:solidFill>
          <a:ln/>
        </p:spPr>
      </p:sp>
      <p:sp>
        <p:nvSpPr>
          <p:cNvPr id="21" name="Text 19"/>
          <p:cNvSpPr/>
          <p:nvPr/>
        </p:nvSpPr>
        <p:spPr>
          <a:xfrm>
            <a:off x="6514438" y="4736247"/>
            <a:ext cx="4670667" cy="200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2"/>
              </a:lnSpc>
              <a:buNone/>
            </a:pPr>
            <a:r>
              <a:rPr lang="en-US" sz="1185" b="1" dirty="0">
                <a:solidFill>
                  <a:srgbClr val="E0A3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Composition caveat</a:t>
            </a:r>
            <a:endParaRPr lang="en-US" sz="1185" dirty="0"/>
          </a:p>
        </p:txBody>
      </p:sp>
      <p:sp>
        <p:nvSpPr>
          <p:cNvPr id="22" name="Text 20"/>
          <p:cNvSpPr/>
          <p:nvPr/>
        </p:nvSpPr>
        <p:spPr>
          <a:xfrm>
            <a:off x="6514438" y="4949499"/>
            <a:ext cx="4670667" cy="6131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5"/>
              </a:lnSpc>
              <a:buNone/>
            </a:pPr>
            <a:r>
              <a:rPr lang="en-US" sz="1110" dirty="0">
                <a:solidFill>
                  <a:srgbClr val="E8D9C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sequence is 70% glutamate before refinement and 76% after — all five mutations add glutamate. A repetitive sequence scoring better may be a model artifact.</a:t>
            </a:r>
            <a:endParaRPr lang="en-US" sz="1110" dirty="0"/>
          </a:p>
        </p:txBody>
      </p:sp>
      <p:sp>
        <p:nvSpPr>
          <p:cNvPr id="23" name="Text 21"/>
          <p:cNvSpPr/>
          <p:nvPr/>
        </p:nvSpPr>
        <p:spPr>
          <a:xfrm>
            <a:off x="812765" y="6007178"/>
            <a:ext cx="10883390" cy="4698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read the matrix and chose this fix. An agent doing it automatically — and deciding when to refine rather than start over — is the next step, not something we ran.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65" y="812763"/>
            <a:ext cx="10883436" cy="416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dirty="0">
                <a:solidFill>
                  <a:srgbClr val="16191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12765" y="1267402"/>
            <a:ext cx="10883436" cy="2654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run does not establish, in order of how much it matters.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15940" y="1637581"/>
            <a:ext cx="10560093" cy="426865"/>
          </a:xfrm>
          <a:prstGeom prst="roundRect">
            <a:avLst>
              <a:gd name="adj" fmla="val 17107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358" y="1735441"/>
            <a:ext cx="380987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78936" y="1751924"/>
            <a:ext cx="2616163" cy="223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experimental binding data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71291" y="1752426"/>
            <a:ext cx="7235054" cy="222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here is a model prediction. Nothing has been made or tested in a lab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15940" y="2127901"/>
            <a:ext cx="10560093" cy="426865"/>
          </a:xfrm>
          <a:prstGeom prst="roundRect">
            <a:avLst>
              <a:gd name="adj" fmla="val 17107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6358" y="2225762"/>
            <a:ext cx="380987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78936" y="2242251"/>
            <a:ext cx="2616163" cy="223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refinement comparison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71291" y="2242747"/>
            <a:ext cx="7235054" cy="222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before/after on one candidate, with no repeats across seeds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5940" y="2618228"/>
            <a:ext cx="10560093" cy="426865"/>
          </a:xfrm>
          <a:prstGeom prst="roundRect">
            <a:avLst>
              <a:gd name="adj" fmla="val 17107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6358" y="2716088"/>
            <a:ext cx="380987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78936" y="2732571"/>
            <a:ext cx="2616163" cy="223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matched baseline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71291" y="2733067"/>
            <a:ext cx="7235054" cy="222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Unguided refinement and scrambled-hotspot controls were never run, so the gain has no reference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5940" y="3108548"/>
            <a:ext cx="10560093" cy="426865"/>
          </a:xfrm>
          <a:prstGeom prst="roundRect">
            <a:avLst>
              <a:gd name="adj" fmla="val 17107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6358" y="3206409"/>
            <a:ext cx="380987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78936" y="3222892"/>
            <a:ext cx="2616163" cy="223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Highly repetitive sequences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71291" y="3223388"/>
            <a:ext cx="7235054" cy="222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70–76% glutamate; better scores may reflect a model artifact rather than a better design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15940" y="3598869"/>
            <a:ext cx="10560093" cy="426865"/>
          </a:xfrm>
          <a:prstGeom prst="roundRect">
            <a:avLst>
              <a:gd name="adj" fmla="val 17107"/>
            </a:avLst>
          </a:prstGeom>
          <a:solidFill>
            <a:srgbClr val="FFFFFF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96358" y="3696729"/>
            <a:ext cx="380987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B553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78936" y="3713212"/>
            <a:ext cx="2616163" cy="223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619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consistency checks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71291" y="3713714"/>
            <a:ext cx="7235054" cy="222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self-consistency RMSD, and raw prediction artifacts from some runs were not preserved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5940" y="4089189"/>
            <a:ext cx="10560093" cy="426865"/>
          </a:xfrm>
          <a:prstGeom prst="roundRect">
            <a:avLst>
              <a:gd name="adj" fmla="val 17107"/>
            </a:avLst>
          </a:prstGeom>
          <a:solidFill>
            <a:srgbClr val="F0ECE2"/>
          </a:solidFill>
          <a:ln w="6350">
            <a:solidFill>
              <a:srgbClr val="DCD9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6358" y="4187050"/>
            <a:ext cx="380987" cy="2565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A6A2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478936" y="4203539"/>
            <a:ext cx="2616163" cy="223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4A4F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Secondary: lab-ready output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171291" y="4204035"/>
            <a:ext cx="7235054" cy="222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53"/>
              </a:lnSpc>
              <a:buNone/>
            </a:pPr>
            <a:r>
              <a:rPr lang="en-US" sz="1150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DNA preparation and extra scoring matter only once the gaps above are closed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2765" y="4646216"/>
            <a:ext cx="10566443" cy="987935"/>
          </a:xfrm>
          <a:prstGeom prst="roundRect">
            <a:avLst>
              <a:gd name="adj" fmla="val 8999"/>
            </a:avLst>
          </a:prstGeom>
          <a:solidFill>
            <a:srgbClr val="1F3A35"/>
          </a:solidFill>
          <a:ln/>
        </p:spPr>
      </p:sp>
      <p:sp>
        <p:nvSpPr>
          <p:cNvPr id="29" name="Text 27"/>
          <p:cNvSpPr/>
          <p:nvPr/>
        </p:nvSpPr>
        <p:spPr>
          <a:xfrm>
            <a:off x="1041328" y="4811285"/>
            <a:ext cx="5075504" cy="200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spc="50" kern="0" dirty="0">
                <a:solidFill>
                  <a:srgbClr val="5FBF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EXPERIMENT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41328" y="5024636"/>
            <a:ext cx="5075504" cy="4698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6F5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RFdiffusion seeds, with a matched unguided-refinement baseline.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222971" y="4922379"/>
            <a:ext cx="5075504" cy="200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150" b="1" spc="50" kern="0" dirty="0">
                <a:solidFill>
                  <a:srgbClr val="E0A35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222971" y="5135724"/>
            <a:ext cx="5075504" cy="2476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F6F5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an agent choose better next experiments at equal compute?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Binder Design Agent</dc:title>
  <dc:subject>PptxGenJS Presentation</dc:subject>
  <dc:creator>PptxGenJS</dc:creator>
  <cp:lastModifiedBy>PptxGenJS</cp:lastModifiedBy>
  <cp:revision>1</cp:revision>
  <dcterms:created xsi:type="dcterms:W3CDTF">2026-09-22T21:01:34Z</dcterms:created>
  <dcterms:modified xsi:type="dcterms:W3CDTF">2026-09-22T21:01:34Z</dcterms:modified>
</cp:coreProperties>
</file>