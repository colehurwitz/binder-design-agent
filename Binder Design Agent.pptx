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what we built is the integration — four published models (RFdiffusion, ProteinMPNN, ESMFold, AlphaFold2-Multimer) deployed on Modal serverless GPUs behind one MCP server, driven end to end from Claude Code. The science inside the models is theirs; the toolchain and debugging are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Generation is cheap; lab work is not. Everything hinges on what you can rule out computationally before committing to making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four models are existing published work. Our contribution is the integration, the serverless GPU deployment and the debugging — not the science inside the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step is a tool call into our MCP server deployed on Modal — a GPU container spins up per call and shuts down after. Step 4 is the one thing we did ourselves. Steps 1 and 2 make a candidate. Step 5 predicts the complex with a different model, so the pipeline is not grading its own homework. It predicts confidence in a structure, not binding affinity — worth saying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early runs, before the tooling bugs on the next slides were found. The point that survives: the design-side scores did not predict the complex-side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the vision, keep the biology modest. We built the tools and feedback an agent would need; humans interpreted every result here. One thing no agent should do is rerun a deterministic prediction unchanged — varying seeds and models is the real robustness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value of running end to end rather than trusting an interface. Both bugs were silent — the tools returned plausible numbers the whole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this was one hit out of six attempts, not a reliable pipeline. Also worth noting: running the refinement mechanism on this candidate changed zero positions — with 78 of 80 already confident, it correctly found nothing to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claim: real in the sense of not a bug or artifact, unproven in the sense that we have not isolated which part does the work. The matched experiment — PAE-selected versus randomly selected positions, repeated — is the next thing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question, not the caveats. We built a working toolchain, found and fixed real bugs in it, and produced one independently verified passing candidate. Binding remains unestablished, and PAE guidance remains promising but uncontrolled.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5"/>
            <a:ext cx="1088343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5FB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PROTEIN BINDER 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65" y="2065629"/>
            <a:ext cx="10883436" cy="1412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dirty="0">
                <a:solidFill>
                  <a:srgbClr val="F6F5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Toward an agent that drives protein-design experiments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765" y="3681059"/>
            <a:ext cx="8502647" cy="3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toolchain; human-directed scientific decisions.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65" y="5005024"/>
            <a:ext cx="2712486" cy="193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00" kern="0" dirty="0">
                <a:solidFill>
                  <a:srgbClr val="7D85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5940" y="5277429"/>
            <a:ext cx="1050919" cy="561413"/>
          </a:xfrm>
          <a:prstGeom prst="roundRect">
            <a:avLst>
              <a:gd name="adj" fmla="val 13007"/>
            </a:avLst>
          </a:prstGeom>
          <a:solidFill>
            <a:srgbClr val="22262E"/>
          </a:solidFill>
          <a:ln w="6350">
            <a:solidFill>
              <a:srgbClr val="3339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719" y="5407036"/>
            <a:ext cx="690161" cy="32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7FEE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000194" y="5277429"/>
            <a:ext cx="1442878" cy="561413"/>
          </a:xfrm>
          <a:prstGeom prst="roundRect">
            <a:avLst>
              <a:gd name="adj" fmla="val 13007"/>
            </a:avLst>
          </a:prstGeom>
          <a:solidFill>
            <a:srgbClr val="22262E"/>
          </a:solidFill>
          <a:ln w="6350">
            <a:solidFill>
              <a:srgbClr val="3339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5973" y="5407036"/>
            <a:ext cx="1082120" cy="32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Anthropic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01840" y="5356903"/>
            <a:ext cx="1854861" cy="193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00" kern="0" dirty="0">
                <a:solidFill>
                  <a:srgbClr val="7D85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01840" y="5575322"/>
            <a:ext cx="1854861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protein-design-mcp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58268" y="5356903"/>
            <a:ext cx="1714009" cy="193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00" kern="0" dirty="0">
                <a:solidFill>
                  <a:srgbClr val="7D85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58268" y="5575322"/>
            <a:ext cx="1714009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PD-L1 (PDB 4ZQK)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1494832"/>
            <a:ext cx="10883436" cy="528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65" y="2099322"/>
            <a:ext cx="9156664" cy="32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small protein that sticks to one specific patch of a target protein.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40" y="2760290"/>
            <a:ext cx="5187973" cy="1309462"/>
          </a:xfrm>
          <a:prstGeom prst="roundRect">
            <a:avLst>
              <a:gd name="adj" fmla="val 7516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125" y="2991475"/>
            <a:ext cx="4867371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125" y="3324199"/>
            <a:ext cx="4867371" cy="539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Tumours use </a:t>
            </a:r>
            <a:r>
              <a:rPr lang="en-US" sz="1350" b="1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PD-L1</a:t>
            </a:r>
            <a:r>
              <a:rPr lang="en-US" sz="13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suppress an immune response. Blocking it is an established cancer therapy.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8059" y="2760290"/>
            <a:ext cx="5187973" cy="1309462"/>
          </a:xfrm>
          <a:prstGeom prst="roundRect">
            <a:avLst>
              <a:gd name="adj" fmla="val 7516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245" y="2991475"/>
            <a:ext cx="4867371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is hard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19245" y="3324199"/>
            <a:ext cx="4867371" cy="539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80-residue binder has 20⁸⁰ possible sequences. Lab testing is slow and expensive.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2765" y="4428520"/>
            <a:ext cx="10566443" cy="731430"/>
          </a:xfrm>
          <a:prstGeom prst="roundRect">
            <a:avLst>
              <a:gd name="adj" fmla="val 13891"/>
            </a:avLst>
          </a:prstGeom>
          <a:solidFill>
            <a:srgbClr val="16191F"/>
          </a:solidFill>
          <a:ln/>
        </p:spPr>
      </p:sp>
      <p:sp>
        <p:nvSpPr>
          <p:cNvPr id="11" name="Text 9"/>
          <p:cNvSpPr/>
          <p:nvPr/>
        </p:nvSpPr>
        <p:spPr>
          <a:xfrm>
            <a:off x="1092140" y="4657084"/>
            <a:ext cx="10307923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5FB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Finding experimentally successful candidates requires effective screening.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6"/>
            <a:ext cx="10883436" cy="47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this is done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5" y="1335965"/>
            <a:ext cx="1088343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approaches, three bottlenecks.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40" y="1791195"/>
            <a:ext cx="10560093" cy="565534"/>
          </a:xfrm>
          <a:prstGeom prst="roundRect">
            <a:avLst>
              <a:gd name="adj" fmla="val 15158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719" y="1963462"/>
            <a:ext cx="2616163" cy="24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F7A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Experimental screening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764840" y="1958887"/>
            <a:ext cx="7627575" cy="255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huge physical libraries and select what binds. Works; slow and expensive per target.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15940" y="2464657"/>
            <a:ext cx="10560093" cy="565534"/>
          </a:xfrm>
          <a:prstGeom prst="roundRect">
            <a:avLst>
              <a:gd name="adj" fmla="val 15158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1719" y="2636924"/>
            <a:ext cx="2616163" cy="24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F7A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structural design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64840" y="2632349"/>
            <a:ext cx="7627575" cy="255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specialist reasons from the structure to a candidate. High skill, low throughput.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5940" y="3138119"/>
            <a:ext cx="10560093" cy="795682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719" y="3425461"/>
            <a:ext cx="2616163" cy="24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F7A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Deep-learning design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64840" y="3305812"/>
            <a:ext cx="7627575" cy="4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and score candidates in silico. Success varies by target and method; experimental validation remains necessary.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765" y="4140133"/>
            <a:ext cx="10566443" cy="927658"/>
          </a:xfrm>
          <a:prstGeom prst="roundRect">
            <a:avLst>
              <a:gd name="adj" fmla="val 10952"/>
            </a:avLst>
          </a:prstGeom>
          <a:solidFill>
            <a:srgbClr val="16191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734" y="4330610"/>
            <a:ext cx="10360259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E0A3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models are public. Running them together is the work.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734" y="4637928"/>
            <a:ext cx="10360259" cy="26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deployed all four on </a:t>
            </a:r>
            <a:r>
              <a:rPr lang="en-US" sz="1300" b="1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 serverless GPUs</a:t>
            </a:r>
            <a:r>
              <a:rPr lang="en-US" sz="130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behind one MCP server, callable as tools from Claude Code.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6"/>
            <a:ext cx="10883436" cy="339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2241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built</a:t>
            </a:r>
            <a:endParaRPr lang="en-US" sz="2241" dirty="0"/>
          </a:p>
        </p:txBody>
      </p:sp>
      <p:sp>
        <p:nvSpPr>
          <p:cNvPr id="3" name="Shape 1"/>
          <p:cNvSpPr/>
          <p:nvPr/>
        </p:nvSpPr>
        <p:spPr>
          <a:xfrm>
            <a:off x="812765" y="1266223"/>
            <a:ext cx="10566443" cy="637867"/>
          </a:xfrm>
          <a:prstGeom prst="roundRect">
            <a:avLst>
              <a:gd name="adj" fmla="val 11946"/>
            </a:avLst>
          </a:prstGeom>
          <a:solidFill>
            <a:srgbClr val="E8EFE9"/>
          </a:solidFill>
          <a:ln/>
        </p:spPr>
      </p:sp>
      <p:sp>
        <p:nvSpPr>
          <p:cNvPr id="4" name="Shape 2"/>
          <p:cNvSpPr/>
          <p:nvPr/>
        </p:nvSpPr>
        <p:spPr>
          <a:xfrm>
            <a:off x="838165" y="1266223"/>
            <a:ext cx="0" cy="637867"/>
          </a:xfrm>
          <a:prstGeom prst="line">
            <a:avLst/>
          </a:prstGeom>
          <a:noFill/>
          <a:ln w="50800">
            <a:solidFill>
              <a:srgbClr val="1F7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514" y="1470830"/>
            <a:ext cx="939783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7A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19294" y="1345792"/>
            <a:ext cx="9341520" cy="504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4ZQK.pdb</a:t>
            </a:r>
            <a:r>
              <a:rPr lang="en-US" sz="1300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PD-L1, chain A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Hotspots</a:t>
            </a:r>
            <a:r>
              <a:rPr lang="en-US" sz="1300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Tyr56, Met115, Tyr123, Arg125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765" y="2043756"/>
            <a:ext cx="1142997" cy="3020730"/>
          </a:xfrm>
          <a:prstGeom prst="roundRect">
            <a:avLst>
              <a:gd name="adj" fmla="val 7778"/>
            </a:avLst>
          </a:prstGeom>
          <a:solidFill>
            <a:srgbClr val="16191F"/>
          </a:solidFill>
          <a:ln/>
        </p:spPr>
      </p:sp>
      <p:sp>
        <p:nvSpPr>
          <p:cNvPr id="8" name="Text 6"/>
          <p:cNvSpPr/>
          <p:nvPr/>
        </p:nvSpPr>
        <p:spPr>
          <a:xfrm>
            <a:off x="952430" y="3135624"/>
            <a:ext cx="91446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6F5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2430" y="3412463"/>
            <a:ext cx="914468" cy="585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Code, one MCP call per step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60498" y="2043756"/>
            <a:ext cx="2692429" cy="220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1F7A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 1, 2, 3, 5 — ON MODAL GPUs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44511" y="2043756"/>
            <a:ext cx="1220426" cy="220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8A6A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 — 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98602" y="2241891"/>
            <a:ext cx="9277431" cy="472877"/>
          </a:xfrm>
          <a:prstGeom prst="roundRect">
            <a:avLst>
              <a:gd name="adj" fmla="val 15443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6295" y="2260544"/>
            <a:ext cx="2747004" cy="23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 Generate a backbone shape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266295" y="2491643"/>
            <a:ext cx="2747004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7A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RFdiffusion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11086" y="2371634"/>
            <a:ext cx="6280172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shapes that sit against the hotspots. No sequence yet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98602" y="2797290"/>
            <a:ext cx="9277431" cy="472877"/>
          </a:xfrm>
          <a:prstGeom prst="roundRect">
            <a:avLst>
              <a:gd name="adj" fmla="val 15443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6295" y="2815943"/>
            <a:ext cx="2747004" cy="23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 Design a sequence for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266295" y="3047042"/>
            <a:ext cx="2747004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7A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ProteinMPNN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11086" y="2927032"/>
            <a:ext cx="6280172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amino acids predicted to fold into that shape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98602" y="3352688"/>
            <a:ext cx="9277431" cy="472877"/>
          </a:xfrm>
          <a:prstGeom prst="roundRect">
            <a:avLst>
              <a:gd name="adj" fmla="val 15443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6295" y="3371343"/>
            <a:ext cx="2747004" cy="23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 Check the sequence folds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266295" y="3602442"/>
            <a:ext cx="2747004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7A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ESMFold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11086" y="3482431"/>
            <a:ext cx="6280172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Refolds it alone, target removed → pLDDT, pTM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98602" y="3908089"/>
            <a:ext cx="9277431" cy="472877"/>
          </a:xfrm>
          <a:prstGeom prst="roundRect">
            <a:avLst>
              <a:gd name="adj" fmla="val 15443"/>
            </a:avLst>
          </a:prstGeom>
          <a:solidFill>
            <a:srgbClr val="F0ECE2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66295" y="3926742"/>
            <a:ext cx="2747004" cy="23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 Drop the weak candidates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266295" y="4157841"/>
            <a:ext cx="2747004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8A6A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11086" y="4037831"/>
            <a:ext cx="6280172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candidates in, 1 forward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98602" y="4463487"/>
            <a:ext cx="9277431" cy="597823"/>
          </a:xfrm>
          <a:prstGeom prst="roundRect">
            <a:avLst>
              <a:gd name="adj" fmla="val 12215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66295" y="4441744"/>
            <a:ext cx="2747004" cy="43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 Predict complex structure and confidence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266295" y="4878583"/>
            <a:ext cx="2747004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7A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AlphaFold2-Multimer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11086" y="4655725"/>
            <a:ext cx="6280172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Binder and PD-L1 folded together, different model → ipTM, PAE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765" y="5204151"/>
            <a:ext cx="10566443" cy="637867"/>
          </a:xfrm>
          <a:prstGeom prst="roundRect">
            <a:avLst>
              <a:gd name="adj" fmla="val 11946"/>
            </a:avLst>
          </a:prstGeom>
          <a:solidFill>
            <a:srgbClr val="16191F"/>
          </a:solidFill>
          <a:ln/>
        </p:spPr>
      </p:sp>
      <p:sp>
        <p:nvSpPr>
          <p:cNvPr id="33" name="Shape 31"/>
          <p:cNvSpPr/>
          <p:nvPr/>
        </p:nvSpPr>
        <p:spPr>
          <a:xfrm>
            <a:off x="838165" y="5204151"/>
            <a:ext cx="0" cy="637867"/>
          </a:xfrm>
          <a:prstGeom prst="line">
            <a:avLst/>
          </a:prstGeom>
          <a:noFill/>
          <a:ln w="50800">
            <a:solidFill>
              <a:srgbClr val="E0A3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2514" y="5408757"/>
            <a:ext cx="939783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A3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119294" y="5283719"/>
            <a:ext cx="9341520" cy="504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6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r>
              <a:rPr lang="en-US" sz="1300" dirty="0">
                <a:solidFill>
                  <a:srgbClr val="F6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binder sequence and its predicted complex with PD-L1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6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Verdict:</a:t>
            </a:r>
            <a:r>
              <a:rPr lang="en-US" sz="1300" dirty="0">
                <a:solidFill>
                  <a:srgbClr val="F6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ipTM 0.39, PAE 11.6 Å — does not meet our screening criteria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6"/>
            <a:ext cx="10883436" cy="47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runs against PD-L1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5" y="1335965"/>
            <a:ext cx="1088343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of 8 designs, then predicted as a complex with AlphaFold2-Multimer.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40" y="1778515"/>
            <a:ext cx="5187973" cy="2331680"/>
          </a:xfrm>
          <a:prstGeom prst="roundRect">
            <a:avLst>
              <a:gd name="adj" fmla="val 4221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719" y="1984294"/>
            <a:ext cx="4919707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7A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Monomer confidence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719" y="2314482"/>
            <a:ext cx="1130260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93.5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228163" y="2511571"/>
            <a:ext cx="2493719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pLDDT — per-residue confidence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1719" y="2896102"/>
            <a:ext cx="1130260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0.85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228163" y="3093191"/>
            <a:ext cx="1732667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pTM — fold confidence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1719" y="3477723"/>
            <a:ext cx="4919707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Describes the binder alone. Refolding reproduced the same scores.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8059" y="1778515"/>
            <a:ext cx="5187973" cy="2331680"/>
          </a:xfrm>
          <a:prstGeom prst="roundRect">
            <a:avLst>
              <a:gd name="adj" fmla="val 4221"/>
            </a:avLst>
          </a:prstGeom>
          <a:solidFill>
            <a:srgbClr val="2A1D18"/>
          </a:solidFill>
          <a:ln w="6350">
            <a:solidFill>
              <a:srgbClr val="4A3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3838" y="1984294"/>
            <a:ext cx="4919707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A3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Complex confidence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3838" y="2314482"/>
            <a:ext cx="1130260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E583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0.39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600283" y="2511571"/>
            <a:ext cx="2074095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ipTM — screening bar is 0.8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93838" y="2896102"/>
            <a:ext cx="1130260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E583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11.6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600283" y="3093191"/>
            <a:ext cx="2599651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PAE (Å) — bar is under 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3838" y="3477723"/>
            <a:ext cx="4919707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#2 came back at 0.23 — worse, despite a near-identical monomer score.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765" y="4303846"/>
            <a:ext cx="10566443" cy="927658"/>
          </a:xfrm>
          <a:prstGeom prst="roundRect">
            <a:avLst>
              <a:gd name="adj" fmla="val 10952"/>
            </a:avLst>
          </a:prstGeom>
          <a:solidFill>
            <a:srgbClr val="16191F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734" y="4494324"/>
            <a:ext cx="10360259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5FB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Monomer confidence does not assess the binder–target interface.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734" y="4801642"/>
            <a:ext cx="10360259" cy="26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scores that ranked our candidates and the score that screens them disagreed. That is what the independent check is for.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6"/>
            <a:ext cx="10883436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0A3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WORK — HUMANS MADE EVERY DECISION IN THIS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5" y="1102286"/>
            <a:ext cx="10883436" cy="45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dirty="0">
                <a:solidFill>
                  <a:srgbClr val="F6F5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agent can help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12765" y="1611492"/>
            <a:ext cx="915666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failed screen opens several possible next moves. Picking between them is judgment, not a threshold.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65" y="2063545"/>
            <a:ext cx="2536839" cy="1554384"/>
          </a:xfrm>
          <a:prstGeom prst="roundRect">
            <a:avLst>
              <a:gd name="adj" fmla="val 5719"/>
            </a:avLst>
          </a:prstGeom>
          <a:solidFill>
            <a:srgbClr val="2A4A44"/>
          </a:solidFill>
          <a:ln/>
        </p:spPr>
      </p:sp>
      <p:sp>
        <p:nvSpPr>
          <p:cNvPr id="6" name="Text 4"/>
          <p:cNvSpPr/>
          <p:nvPr/>
        </p:nvSpPr>
        <p:spPr>
          <a:xfrm>
            <a:off x="1003242" y="2254024"/>
            <a:ext cx="2220562" cy="48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FB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another candidate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3242" y="2787411"/>
            <a:ext cx="2220562" cy="66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F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Cheapest move. Does the monomer score rank them at all?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89269" y="2063545"/>
            <a:ext cx="2536885" cy="1554384"/>
          </a:xfrm>
          <a:prstGeom prst="roundRect">
            <a:avLst>
              <a:gd name="adj" fmla="val 5719"/>
            </a:avLst>
          </a:prstGeom>
          <a:solidFill>
            <a:srgbClr val="2A4A44"/>
          </a:solidFill>
          <a:ln/>
        </p:spPr>
      </p:sp>
      <p:sp>
        <p:nvSpPr>
          <p:cNvPr id="9" name="Text 7"/>
          <p:cNvSpPr/>
          <p:nvPr/>
        </p:nvSpPr>
        <p:spPr>
          <a:xfrm>
            <a:off x="3679746" y="2254024"/>
            <a:ext cx="2220609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FB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Refine a near-miss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79746" y="2558805"/>
            <a:ext cx="2220609" cy="66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F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detailed output, keep what works, redesign the rest.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65819" y="2063545"/>
            <a:ext cx="2536839" cy="1554384"/>
          </a:xfrm>
          <a:prstGeom prst="roundRect">
            <a:avLst>
              <a:gd name="adj" fmla="val 5719"/>
            </a:avLst>
          </a:prstGeom>
          <a:solidFill>
            <a:srgbClr val="2A4A44"/>
          </a:solidFill>
          <a:ln/>
        </p:spPr>
      </p:sp>
      <p:sp>
        <p:nvSpPr>
          <p:cNvPr id="12" name="Text 10"/>
          <p:cNvSpPr/>
          <p:nvPr/>
        </p:nvSpPr>
        <p:spPr>
          <a:xfrm>
            <a:off x="6356296" y="2254024"/>
            <a:ext cx="2220562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FB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over, differently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6296" y="2558805"/>
            <a:ext cx="2220562" cy="66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F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backbones from independent seeds, or different hotspots.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42323" y="2063545"/>
            <a:ext cx="2536885" cy="1554384"/>
          </a:xfrm>
          <a:prstGeom prst="roundRect">
            <a:avLst>
              <a:gd name="adj" fmla="val 5719"/>
            </a:avLst>
          </a:prstGeom>
          <a:solidFill>
            <a:srgbClr val="2A4A44"/>
          </a:solidFill>
          <a:ln/>
        </p:spPr>
      </p:sp>
      <p:sp>
        <p:nvSpPr>
          <p:cNvPr id="15" name="Text 13"/>
          <p:cNvSpPr/>
          <p:nvPr/>
        </p:nvSpPr>
        <p:spPr>
          <a:xfrm>
            <a:off x="9032800" y="2254024"/>
            <a:ext cx="2220609" cy="48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FB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Spend the budget elsewhere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32800" y="2787411"/>
            <a:ext cx="2220609" cy="66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F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which candidates earn an expensive prediction, and when to stop.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65" y="3821088"/>
            <a:ext cx="10566443" cy="935855"/>
          </a:xfrm>
          <a:prstGeom prst="roundRect">
            <a:avLst>
              <a:gd name="adj" fmla="val 10856"/>
            </a:avLst>
          </a:prstGeom>
          <a:solidFill>
            <a:srgbClr val="16191F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734" y="4024244"/>
            <a:ext cx="10360259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FEE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took the first two by hand. Next two slides.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734" y="4331562"/>
            <a:ext cx="10360259" cy="24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8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 question: can an agent make these calls reliably, and beat a fixed workflow at equal compute?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6"/>
            <a:ext cx="10883436" cy="444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bugs, found by running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65" y="1308022"/>
            <a:ext cx="10883436" cy="26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code review of the MCP server found the refinement path was not doing what its interface claimed.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15940" y="1729017"/>
            <a:ext cx="5200653" cy="1338582"/>
          </a:xfrm>
          <a:prstGeom prst="roundRect">
            <a:avLst>
              <a:gd name="adj" fmla="val 7353"/>
            </a:avLst>
          </a:prstGeom>
          <a:solidFill>
            <a:srgbClr val="2A1D18"/>
          </a:solidFill>
          <a:ln w="6350">
            <a:solidFill>
              <a:srgbClr val="4A3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9039" y="1922115"/>
            <a:ext cx="49588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0A3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optimizer ignored the target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9039" y="2211636"/>
            <a:ext cx="4958890" cy="688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D9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optimize_sequence checked that the target file existed and never used it again. Its "affinity" improvement was a monomer refold — no target, no complex.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5334" y="1729017"/>
            <a:ext cx="5200699" cy="1338582"/>
          </a:xfrm>
          <a:prstGeom prst="roundRect">
            <a:avLst>
              <a:gd name="adj" fmla="val 7353"/>
            </a:avLst>
          </a:prstGeom>
          <a:solidFill>
            <a:srgbClr val="2A1D18"/>
          </a:solidFill>
          <a:ln w="6350">
            <a:solidFill>
              <a:srgbClr val="4A3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8433" y="1922115"/>
            <a:ext cx="4958937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0A3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right tool was never wired 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68433" y="2211636"/>
            <a:ext cx="4958937" cy="688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D9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design_for_interface, which does keep the target fixed, was never exposed as a tool and called a ProteinMPNN flag that does not exist on this version.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40" y="3251746"/>
            <a:ext cx="10560093" cy="754471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719" y="3529893"/>
            <a:ext cx="1447767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B55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Retracted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96482" y="3406756"/>
            <a:ext cx="8830984" cy="46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earlier headline, ipTM 0.43 → 0.55, used the broken optimizer. We are withdrawing it. The refined sequence was also 76% glutamate, a second reason to doubt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765" y="4187186"/>
            <a:ext cx="10566443" cy="1107991"/>
          </a:xfrm>
          <a:prstGeom prst="roundRect">
            <a:avLst>
              <a:gd name="adj" fmla="val 9170"/>
            </a:avLst>
          </a:prstGeom>
          <a:solidFill>
            <a:srgbClr val="1F3A35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328" y="4364983"/>
            <a:ext cx="10412596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7FEE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Rewired to ProteinMPNN's real multi-chain workflow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1328" y="4657083"/>
            <a:ext cx="10412596" cy="4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BFD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 chain is now genuinely held fixed, and specific binder residues can be locked. A second bug surfaced immediately: locking against a raw backbone locked to placeholder glycines, so we now thread the real designed sequence through first.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6"/>
            <a:ext cx="10883436" cy="444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candidate that clears the bar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65" y="1308022"/>
            <a:ext cx="10883436" cy="26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candidate from the corrected pipeline, straight through, no refinement.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12765" y="1713114"/>
            <a:ext cx="2528144" cy="1778011"/>
          </a:xfrm>
          <a:prstGeom prst="roundRect">
            <a:avLst>
              <a:gd name="adj" fmla="val 5714"/>
            </a:avLst>
          </a:prstGeom>
          <a:solidFill>
            <a:srgbClr val="1F3A35"/>
          </a:solidFill>
          <a:ln/>
        </p:spPr>
      </p:sp>
      <p:sp>
        <p:nvSpPr>
          <p:cNvPr id="5" name="Text 3"/>
          <p:cNvSpPr/>
          <p:nvPr/>
        </p:nvSpPr>
        <p:spPr>
          <a:xfrm>
            <a:off x="1003242" y="1903592"/>
            <a:ext cx="2211606" cy="20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BFD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ipTM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3242" y="2149952"/>
            <a:ext cx="2211606" cy="50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7FEE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03242" y="2696025"/>
            <a:ext cx="2211606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BFD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is 0.8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83749" y="1716289"/>
            <a:ext cx="2533433" cy="177166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6848" y="1909390"/>
            <a:ext cx="2211653" cy="20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pLDDT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76848" y="2155751"/>
            <a:ext cx="2211653" cy="50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95.3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76848" y="2701820"/>
            <a:ext cx="2211653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pTM 0.88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197" y="1716289"/>
            <a:ext cx="2533388" cy="177166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296" y="1909390"/>
            <a:ext cx="2211606" cy="20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 residues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6296" y="2155751"/>
            <a:ext cx="2211606" cy="50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78</a:t>
            </a:r>
            <a:r>
              <a:rPr lang="en-US" sz="3800" dirty="0">
                <a:solidFill>
                  <a:srgbClr val="6B6F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/80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56296" y="2701820"/>
            <a:ext cx="2211606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interface PAE 5.14 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42600" y="1716289"/>
            <a:ext cx="2533433" cy="177166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5698" y="1909390"/>
            <a:ext cx="2211653" cy="20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35698" y="2155751"/>
            <a:ext cx="2211653" cy="692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Tyr56, Met115, Asp122, Arg121 — real PD-L1 hotspots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35698" y="2885911"/>
            <a:ext cx="2211653" cy="43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Reproduced exactly on a second call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5940" y="3659374"/>
            <a:ext cx="10560093" cy="923436"/>
          </a:xfrm>
          <a:prstGeom prst="roundRect">
            <a:avLst>
              <a:gd name="adj" fmla="val 9283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719" y="3930591"/>
            <a:ext cx="1831305" cy="406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independent attempts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52081" y="4049970"/>
            <a:ext cx="1016182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80956" y="4049970"/>
            <a:ext cx="1016227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09875" y="4049970"/>
            <a:ext cx="1016227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8795" y="4049970"/>
            <a:ext cx="1016227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67714" y="4049970"/>
            <a:ext cx="1016227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6A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96634" y="3978867"/>
            <a:ext cx="1016227" cy="309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65258" y="3814384"/>
            <a:ext cx="1962146" cy="638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clear hit, wide spread otherwise. This is what the funnel actually looks like.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3"/>
            <a:ext cx="10883436" cy="444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PAE-guided refinement, tested cleanly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65" y="1308026"/>
            <a:ext cx="10883436" cy="26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 the residues AlphaFold is confident about, redesign the rest. Three trials with the corrected tool.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03242" y="1713117"/>
            <a:ext cx="2747004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spc="50" kern="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 CANDIDATE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822626" y="1713117"/>
            <a:ext cx="1701781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spc="50" kern="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25998" y="1713117"/>
            <a:ext cx="1962146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spc="50" kern="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ipTM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3385" y="1713117"/>
            <a:ext cx="3610506" cy="22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spc="50" kern="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15940" y="1984251"/>
            <a:ext cx="10560093" cy="525908"/>
          </a:xfrm>
          <a:prstGeom prst="roundRect">
            <a:avLst>
              <a:gd name="adj" fmla="val 13886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9039" y="2136093"/>
            <a:ext cx="2747004" cy="24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strong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28423" y="2136093"/>
            <a:ext cx="1701781" cy="24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78/80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31795" y="2113862"/>
            <a:ext cx="1962146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0.81 → 0.81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9181" y="2140533"/>
            <a:ext cx="3598565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positions changed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40" y="2580004"/>
            <a:ext cx="10560093" cy="525908"/>
          </a:xfrm>
          <a:prstGeom prst="roundRect">
            <a:avLst>
              <a:gd name="adj" fmla="val 13886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9039" y="2731846"/>
            <a:ext cx="2747004" cy="24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28423" y="2731846"/>
            <a:ext cx="1701781" cy="24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60/80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31795" y="2709608"/>
            <a:ext cx="1962146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0.23 → 0.26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9181" y="2736286"/>
            <a:ext cx="3598565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940" y="3175750"/>
            <a:ext cx="10560093" cy="525908"/>
          </a:xfrm>
          <a:prstGeom prst="roundRect">
            <a:avLst>
              <a:gd name="adj" fmla="val 13886"/>
            </a:avLst>
          </a:prstGeom>
          <a:solidFill>
            <a:srgbClr val="E8EFE9"/>
          </a:solidFill>
          <a:ln w="6350">
            <a:solidFill>
              <a:srgbClr val="9CC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039" y="3327598"/>
            <a:ext cx="2747004" cy="24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28423" y="3327598"/>
            <a:ext cx="1701781" cy="24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32/80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31795" y="3305361"/>
            <a:ext cx="1962146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7A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0.45 → 0.77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9181" y="3332032"/>
            <a:ext cx="3598565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diverse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765" y="3869910"/>
            <a:ext cx="10566443" cy="1259747"/>
          </a:xfrm>
          <a:prstGeom prst="roundRect">
            <a:avLst>
              <a:gd name="adj" fmla="val 8065"/>
            </a:avLst>
          </a:prstGeom>
          <a:solidFill>
            <a:srgbClr val="2A1D1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1328" y="4047703"/>
            <a:ext cx="5075504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E0A3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control we have not run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1328" y="4311817"/>
            <a:ext cx="5075504" cy="66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D9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 the same number of positions at random. Redesigning half a mediocre sequence against the real target may help whichever positions are held.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22971" y="4047703"/>
            <a:ext cx="5075504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E0A3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Effects are inconsistent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22971" y="4311817"/>
            <a:ext cx="5075504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D9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 +0.03, +0.32 across three trials. That is not a characterised effect yet, and only the best of ~8 samples per call was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3"/>
            <a:ext cx="10883436" cy="41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619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765" y="1267396"/>
            <a:ext cx="10883436" cy="26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run does not establish, in order of how much it matters.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15940" y="1637581"/>
            <a:ext cx="10560093" cy="426865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358" y="1735441"/>
            <a:ext cx="38098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53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78936" y="1751924"/>
            <a:ext cx="2616163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experimental binding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71291" y="1752420"/>
            <a:ext cx="7235054" cy="22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number is a model prediction. Nothing has been made or tested in a lab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15940" y="2127901"/>
            <a:ext cx="10560093" cy="426865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358" y="2225762"/>
            <a:ext cx="38098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53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78936" y="2242245"/>
            <a:ext cx="2616163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hit in six attempts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71291" y="2242741"/>
            <a:ext cx="7235054" cy="22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 is a real result and a lucky draw. We cannot yet quote a hit 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940" y="2618222"/>
            <a:ext cx="10560093" cy="426865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358" y="2716082"/>
            <a:ext cx="38098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53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78936" y="2732565"/>
            <a:ext cx="2616163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Refinement has no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71291" y="2733067"/>
            <a:ext cx="7235054" cy="22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trials, effects of 0 to +0.32, and no random-position comparison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5940" y="3108542"/>
            <a:ext cx="10560093" cy="426865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358" y="3206403"/>
            <a:ext cx="38098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53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78936" y="3222892"/>
            <a:ext cx="2616163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bugs went unnoticed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71291" y="3223388"/>
            <a:ext cx="7235054" cy="22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tools returned plausible numbers while doing the wrong thing. The rest are unaudited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5940" y="3598869"/>
            <a:ext cx="10560093" cy="426865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358" y="3696729"/>
            <a:ext cx="38098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53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78936" y="3713212"/>
            <a:ext cx="2616163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step unquantified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71291" y="3713708"/>
            <a:ext cx="7235054" cy="22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call samples ~8 sequences; only the best by ProteinMPNN's own score was verified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5940" y="4089189"/>
            <a:ext cx="10560093" cy="426865"/>
          </a:xfrm>
          <a:prstGeom prst="roundRect">
            <a:avLst>
              <a:gd name="adj" fmla="val 17107"/>
            </a:avLst>
          </a:prstGeom>
          <a:solidFill>
            <a:srgbClr val="F0ECE2"/>
          </a:solidFill>
          <a:ln w="6350">
            <a:solidFill>
              <a:srgbClr val="DCD9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358" y="4187050"/>
            <a:ext cx="38098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6A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78936" y="4203533"/>
            <a:ext cx="2616163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4A4F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Secondary: lab-ready 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71291" y="4204029"/>
            <a:ext cx="7235054" cy="22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DNA preparation and extra scoring matter only once the gaps above are closed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2765" y="4646216"/>
            <a:ext cx="10566443" cy="962574"/>
          </a:xfrm>
          <a:prstGeom prst="roundRect">
            <a:avLst>
              <a:gd name="adj" fmla="val 9236"/>
            </a:avLst>
          </a:prstGeom>
          <a:solidFill>
            <a:srgbClr val="1F3A35"/>
          </a:solidFill>
          <a:ln/>
        </p:spPr>
      </p:sp>
      <p:sp>
        <p:nvSpPr>
          <p:cNvPr id="29" name="Text 27"/>
          <p:cNvSpPr/>
          <p:nvPr/>
        </p:nvSpPr>
        <p:spPr>
          <a:xfrm>
            <a:off x="1041328" y="4798603"/>
            <a:ext cx="5075504" cy="200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spc="50" kern="0" dirty="0">
                <a:solidFill>
                  <a:srgbClr val="5FBF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EXPERIMENT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41328" y="5011948"/>
            <a:ext cx="5075504" cy="46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6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PAE-selected positions versus the same number chosen at random, repeated.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22971" y="4909691"/>
            <a:ext cx="5075504" cy="200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spc="50" kern="0" dirty="0">
                <a:solidFill>
                  <a:srgbClr val="E0A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22971" y="5123036"/>
            <a:ext cx="5075504" cy="24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6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an agent choose better next experiments at equal compute?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Binder Design Agent</dc:title>
  <dc:subject>PptxGenJS Presentation</dc:subject>
  <dc:creator>PptxGenJS</dc:creator>
  <cp:lastModifiedBy>PptxGenJS</cp:lastModifiedBy>
  <cp:revision>1</cp:revision>
  <dcterms:created xsi:type="dcterms:W3CDTF">2026-09-23T16:20:26Z</dcterms:created>
  <dcterms:modified xsi:type="dcterms:W3CDTF">2026-09-23T16:20:26Z</dcterms:modified>
</cp:coreProperties>
</file>